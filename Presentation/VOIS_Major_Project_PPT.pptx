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neha-Datascientist/Seasonal-Agriculture-Performance-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5440" y="3449778"/>
            <a:ext cx="8090348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Name- SNEHA TYAGI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Name-Indira Gandhi National Open University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87630"/>
            <a:ext cx="10052389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345440" y="4429975"/>
            <a:ext cx="578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STU6a6835ca74e4a1785214410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875556"/>
            <a:ext cx="6801803" cy="431968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However, raw agricultural data does not clearly explain how agricultural performance changes across seasons or what patterns can be observed in different seasonal conditions.</a:t>
            </a: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C440ECB-AE1B-8155-81C6-1C17F1B2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401801"/>
            <a:ext cx="6206565" cy="835328"/>
          </a:xfrm>
        </p:spPr>
        <p:txBody>
          <a:bodyPr>
            <a:normAutofit/>
          </a:bodyPr>
          <a:lstStyle/>
          <a:p>
            <a:r>
              <a:rPr lang="en-IN" dirty="0"/>
              <a:t>Project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253745-9A96-71F6-D4A9-4AFD6F6DE3E4}"/>
              </a:ext>
            </a:extLst>
          </p:cNvPr>
          <p:cNvSpPr txBox="1"/>
          <p:nvPr/>
        </p:nvSpPr>
        <p:spPr>
          <a:xfrm>
            <a:off x="600635" y="1541929"/>
            <a:ext cx="86868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Overview:</a:t>
            </a:r>
            <a:r>
              <a:rPr lang="en-IN" dirty="0">
                <a:latin typeface="Aptos" panose="020B0004020202020204" pitchFamily="34" charset="0"/>
              </a:rPr>
              <a:t> An end-to-end exploratory data analysis (EDA) framework built to clean, process, and </a:t>
            </a:r>
            <a:r>
              <a:rPr lang="en-IN" dirty="0" err="1">
                <a:latin typeface="Aptos" panose="020B0004020202020204" pitchFamily="34" charset="0"/>
              </a:rPr>
              <a:t>analyze</a:t>
            </a:r>
            <a:r>
              <a:rPr lang="en-IN" dirty="0">
                <a:latin typeface="Aptos" panose="020B0004020202020204" pitchFamily="34" charset="0"/>
              </a:rPr>
              <a:t> </a:t>
            </a:r>
            <a:r>
              <a:rPr lang="en-IN" b="1" dirty="0">
                <a:latin typeface="Aptos" panose="020B0004020202020204" pitchFamily="34" charset="0"/>
              </a:rPr>
              <a:t>4,000 unique farm records</a:t>
            </a:r>
            <a:r>
              <a:rPr lang="en-IN" dirty="0">
                <a:latin typeface="Aptos" panose="020B0004020202020204" pitchFamily="34" charset="0"/>
              </a:rPr>
              <a:t> across 8 states and 8 major crop types.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ptos" panose="020B0004020202020204" pitchFamily="34" charset="0"/>
              </a:rPr>
              <a:t>Methodology Details:</a:t>
            </a:r>
            <a:endParaRPr lang="en-IN" dirty="0">
              <a:latin typeface="Aptos" panose="020B0004020202020204" pitchFamily="34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Aptos" panose="020B0004020202020204" pitchFamily="34" charset="0"/>
              </a:rPr>
              <a:t>Data Integrity Checks:</a:t>
            </a:r>
            <a:r>
              <a:rPr lang="en-IN" dirty="0">
                <a:latin typeface="Aptos" panose="020B0004020202020204" pitchFamily="34" charset="0"/>
              </a:rPr>
              <a:t> Evaluated missing data patterns (Rainfall 1.2%, Soil Moisture 1.0%, Yield 0.8%) and performed </a:t>
            </a:r>
            <a:r>
              <a:rPr lang="en-IN" b="1" dirty="0">
                <a:latin typeface="Aptos" panose="020B0004020202020204" pitchFamily="34" charset="0"/>
              </a:rPr>
              <a:t>Median Imputation</a:t>
            </a:r>
            <a:r>
              <a:rPr lang="en-IN" dirty="0">
                <a:latin typeface="Aptos" panose="020B0004020202020204" pitchFamily="34" charset="0"/>
              </a:rPr>
              <a:t> to retain dataset balance without outlier distortion.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Aptos" panose="020B0004020202020204" pitchFamily="34" charset="0"/>
              </a:rPr>
              <a:t>Outlier Strategy:</a:t>
            </a:r>
            <a:r>
              <a:rPr lang="en-IN" dirty="0">
                <a:latin typeface="Aptos" panose="020B0004020202020204" pitchFamily="34" charset="0"/>
              </a:rPr>
              <a:t> Inspected highly skewed distributions (Production, Revenue, Profit) using the Interquartile Range (IQR) method and safely preserved them as valid agricultural biological variances rather than data errors.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b="1" dirty="0">
                <a:latin typeface="Aptos" panose="020B0004020202020204" pitchFamily="34" charset="0"/>
              </a:rPr>
              <a:t>Feature Engineering:</a:t>
            </a:r>
            <a:r>
              <a:rPr lang="en-IN" dirty="0">
                <a:latin typeface="Aptos" panose="020B0004020202020204" pitchFamily="34" charset="0"/>
              </a:rPr>
              <a:t> Derived high-value KPIs to judge structural farm performance across different sizes: </a:t>
            </a:r>
            <a:r>
              <a:rPr lang="en-IN" b="1" dirty="0">
                <a:latin typeface="Aptos" panose="020B0004020202020204" pitchFamily="34" charset="0"/>
              </a:rPr>
              <a:t>Profit Margin (%),</a:t>
            </a:r>
            <a:r>
              <a:rPr lang="en-IN" dirty="0">
                <a:latin typeface="Aptos" panose="020B0004020202020204" pitchFamily="34" charset="0"/>
              </a:rPr>
              <a:t> </a:t>
            </a:r>
            <a:r>
              <a:rPr lang="en-IN" b="1" dirty="0">
                <a:latin typeface="Aptos" panose="020B0004020202020204" pitchFamily="34" charset="0"/>
              </a:rPr>
              <a:t>Cost per Tonne</a:t>
            </a:r>
            <a:r>
              <a:rPr lang="en-IN" dirty="0">
                <a:latin typeface="Aptos" panose="020B0004020202020204" pitchFamily="34" charset="0"/>
              </a:rPr>
              <a:t>, </a:t>
            </a:r>
            <a:r>
              <a:rPr lang="en-IN" b="1" dirty="0">
                <a:latin typeface="Aptos" panose="020B0004020202020204" pitchFamily="34" charset="0"/>
              </a:rPr>
              <a:t>Revenue per Hectare</a:t>
            </a:r>
            <a:r>
              <a:rPr lang="en-IN" dirty="0">
                <a:latin typeface="Aptos" panose="020B0004020202020204" pitchFamily="34" charset="0"/>
              </a:rPr>
              <a:t>, and </a:t>
            </a:r>
            <a:r>
              <a:rPr lang="en-IN" b="1" dirty="0">
                <a:latin typeface="Aptos" panose="020B0004020202020204" pitchFamily="34" charset="0"/>
              </a:rPr>
              <a:t>Profit per Hectare</a:t>
            </a:r>
            <a:r>
              <a:rPr lang="en-IN" dirty="0">
                <a:latin typeface="Aptos" panose="020B0004020202020204" pitchFamily="34" charset="0"/>
              </a:rPr>
              <a:t>.</a:t>
            </a:r>
          </a:p>
          <a:p>
            <a:br>
              <a:rPr lang="en-IN" dirty="0"/>
            </a:br>
            <a:endParaRPr lang="en-IN" dirty="0"/>
          </a:p>
          <a:p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0362" y="1369797"/>
            <a:ext cx="8005832" cy="4807007"/>
          </a:xfrm>
        </p:spPr>
        <p:txBody>
          <a:bodyPr>
            <a:normAutofit/>
          </a:bodyPr>
          <a:lstStyle/>
          <a:p>
            <a:pPr lvl="0"/>
            <a:r>
              <a:rPr lang="en-IN" b="1" dirty="0">
                <a:latin typeface="Aptos" panose="020B0004020202020204" pitchFamily="34" charset="0"/>
              </a:rPr>
              <a:t>Agricultural Policy Makers &amp; Government Bodies:</a:t>
            </a:r>
            <a:r>
              <a:rPr lang="en-IN" dirty="0">
                <a:latin typeface="Aptos" panose="020B0004020202020204" pitchFamily="34" charset="0"/>
              </a:rPr>
              <a:t> To plan regional resource allocations and design target financial safety schemes based on seasonal performance drops.</a:t>
            </a:r>
          </a:p>
          <a:p>
            <a:pPr lvl="0"/>
            <a:r>
              <a:rPr lang="en-IN" b="1" dirty="0">
                <a:latin typeface="Aptos" panose="020B0004020202020204" pitchFamily="34" charset="0"/>
              </a:rPr>
              <a:t>Farming Cooperatives &amp; Agronomists:</a:t>
            </a:r>
            <a:r>
              <a:rPr lang="en-IN" dirty="0">
                <a:latin typeface="Aptos" panose="020B0004020202020204" pitchFamily="34" charset="0"/>
              </a:rPr>
              <a:t> To identify optimal crop choices and select sustainable irrigation methods tailored to regional weather baselines.</a:t>
            </a:r>
          </a:p>
          <a:p>
            <a:pPr lvl="0"/>
            <a:r>
              <a:rPr lang="en-IN" b="1" dirty="0">
                <a:latin typeface="Aptos" panose="020B0004020202020204" pitchFamily="34" charset="0"/>
              </a:rPr>
              <a:t>Agricultural Financial Analysts:</a:t>
            </a:r>
            <a:r>
              <a:rPr lang="en-IN" dirty="0">
                <a:latin typeface="Aptos" panose="020B0004020202020204" pitchFamily="34" charset="0"/>
              </a:rPr>
              <a:t> To model market price sensitivities, manage economic risks, and evaluate cost-to-revenue ratios per season.</a:t>
            </a:r>
            <a:br>
              <a:rPr lang="en-IN" sz="1800" dirty="0">
                <a:latin typeface="Aptos" panose="020B0004020202020204" pitchFamily="34" charset="0"/>
              </a:rPr>
            </a:br>
            <a:endParaRPr lang="en-IN" sz="1800" dirty="0">
              <a:latin typeface="Aptos" panose="020B00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1800" dirty="0"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9" y="195421"/>
            <a:ext cx="10046070" cy="802641"/>
          </a:xfrm>
        </p:spPr>
        <p:txBody>
          <a:bodyPr>
            <a:normAutofit/>
          </a:bodyPr>
          <a:lstStyle/>
          <a:p>
            <a:r>
              <a:rPr lang="en-US" sz="4000" dirty="0"/>
              <a:t>WHO ARE THE END USERS?</a:t>
            </a:r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1315059"/>
            <a:ext cx="9027702" cy="5243448"/>
          </a:xfrm>
        </p:spPr>
        <p:txBody>
          <a:bodyPr>
            <a:normAutofit/>
          </a:bodyPr>
          <a:lstStyle/>
          <a:p>
            <a:pPr lvl="0"/>
            <a:r>
              <a:rPr lang="en-IN" b="1" dirty="0">
                <a:latin typeface="Aptos" panose="020B0004020202020204" pitchFamily="34" charset="0"/>
              </a:rPr>
              <a:t>Programming Language:</a:t>
            </a:r>
            <a:r>
              <a:rPr lang="en-IN" dirty="0">
                <a:latin typeface="Aptos" panose="020B0004020202020204" pitchFamily="34" charset="0"/>
              </a:rPr>
              <a:t> Python</a:t>
            </a:r>
          </a:p>
          <a:p>
            <a:pPr lvl="0"/>
            <a:r>
              <a:rPr lang="en-IN" b="1" dirty="0">
                <a:latin typeface="Aptos" panose="020B0004020202020204" pitchFamily="34" charset="0"/>
              </a:rPr>
              <a:t>Data Processing &amp; Manipulation:</a:t>
            </a:r>
            <a:endParaRPr lang="en-IN" dirty="0">
              <a:latin typeface="Aptos" panose="020B0004020202020204" pitchFamily="34" charset="0"/>
            </a:endParaRPr>
          </a:p>
          <a:p>
            <a:pPr lvl="1"/>
            <a:r>
              <a:rPr lang="en-IN" dirty="0">
                <a:latin typeface="Aptos" panose="020B0004020202020204" pitchFamily="34" charset="0"/>
              </a:rPr>
              <a:t>pandas (</a:t>
            </a:r>
            <a:r>
              <a:rPr lang="en-IN" dirty="0" err="1">
                <a:latin typeface="Aptos" panose="020B0004020202020204" pitchFamily="34" charset="0"/>
              </a:rPr>
              <a:t>Dataframe</a:t>
            </a:r>
            <a:r>
              <a:rPr lang="en-IN" dirty="0">
                <a:latin typeface="Aptos" panose="020B0004020202020204" pitchFamily="34" charset="0"/>
              </a:rPr>
              <a:t> loading, cleaning, aggregating, grouping)</a:t>
            </a:r>
          </a:p>
          <a:p>
            <a:pPr lvl="1"/>
            <a:r>
              <a:rPr lang="en-IN" dirty="0" err="1">
                <a:latin typeface="Aptos" panose="020B0004020202020204" pitchFamily="34" charset="0"/>
              </a:rPr>
              <a:t>numpy</a:t>
            </a:r>
            <a:r>
              <a:rPr lang="en-IN" dirty="0">
                <a:latin typeface="Aptos" panose="020B0004020202020204" pitchFamily="34" charset="0"/>
              </a:rPr>
              <a:t> (Numerical operations and indexing handling)</a:t>
            </a:r>
          </a:p>
          <a:p>
            <a:pPr lvl="0"/>
            <a:r>
              <a:rPr lang="en-IN" b="1" dirty="0">
                <a:latin typeface="Aptos" panose="020B0004020202020204" pitchFamily="34" charset="0"/>
              </a:rPr>
              <a:t>Data Visualization &amp; Analytics:</a:t>
            </a:r>
            <a:endParaRPr lang="en-IN" dirty="0">
              <a:latin typeface="Aptos" panose="020B0004020202020204" pitchFamily="34" charset="0"/>
            </a:endParaRPr>
          </a:p>
          <a:p>
            <a:pPr lvl="1"/>
            <a:r>
              <a:rPr lang="en-IN" b="1" dirty="0" err="1">
                <a:latin typeface="Aptos" panose="020B0004020202020204" pitchFamily="34" charset="0"/>
              </a:rPr>
              <a:t>matplotlib.pyplot</a:t>
            </a:r>
            <a:r>
              <a:rPr lang="en-IN" b="1" dirty="0">
                <a:latin typeface="Aptos" panose="020B0004020202020204" pitchFamily="34" charset="0"/>
              </a:rPr>
              <a:t> </a:t>
            </a:r>
            <a:r>
              <a:rPr lang="en-IN" dirty="0">
                <a:latin typeface="Aptos" panose="020B0004020202020204" pitchFamily="34" charset="0"/>
              </a:rPr>
              <a:t>(Building specialized bar charts, line plots, and subplots)</a:t>
            </a:r>
          </a:p>
          <a:p>
            <a:pPr lvl="1"/>
            <a:r>
              <a:rPr lang="en-IN" b="1" dirty="0">
                <a:latin typeface="Aptos" panose="020B0004020202020204" pitchFamily="34" charset="0"/>
              </a:rPr>
              <a:t>seaborn</a:t>
            </a:r>
            <a:r>
              <a:rPr lang="en-IN" dirty="0">
                <a:latin typeface="Aptos" panose="020B0004020202020204" pitchFamily="34" charset="0"/>
              </a:rPr>
              <a:t> (Plotting detailed correlation heatmaps and distributional boxplots)</a:t>
            </a:r>
          </a:p>
          <a:p>
            <a:br>
              <a:rPr lang="en-IN" dirty="0"/>
            </a:br>
            <a:endParaRPr lang="en-IN" dirty="0"/>
          </a:p>
          <a:p>
            <a:pPr lvl="1">
              <a:lnSpc>
                <a:spcPct val="150000"/>
              </a:lnSpc>
            </a:pPr>
            <a:endParaRPr lang="en-IN" sz="1800" dirty="0">
              <a:latin typeface="Aptos" panose="020B0004020202020204" pitchFamily="34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47776C-9FA4-2E04-ED2D-A50F81B88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624" y="734811"/>
            <a:ext cx="4121667" cy="29135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E54209-F103-6E4C-43BA-8418A2AC6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294" y="3841363"/>
            <a:ext cx="4113764" cy="28235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66C780-97D3-0B4F-BDE2-5492C87A179C}"/>
              </a:ext>
            </a:extLst>
          </p:cNvPr>
          <p:cNvSpPr txBox="1"/>
          <p:nvPr/>
        </p:nvSpPr>
        <p:spPr>
          <a:xfrm>
            <a:off x="582705" y="1398493"/>
            <a:ext cx="41216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Kharif</a:t>
            </a:r>
            <a:r>
              <a:rPr lang="en-IN" sz="2000" dirty="0">
                <a:latin typeface="Aptos" panose="020B0004020202020204" pitchFamily="34" charset="0"/>
              </a:rPr>
              <a:t> is the most successful season, leading in both crop yield (</a:t>
            </a:r>
            <a:r>
              <a:rPr lang="en-IN" sz="2000" b="1" dirty="0">
                <a:latin typeface="Aptos" panose="020B0004020202020204" pitchFamily="34" charset="0"/>
              </a:rPr>
              <a:t>5.63 Tonnes/Ha</a:t>
            </a:r>
            <a:r>
              <a:rPr lang="en-IN" sz="2000" dirty="0">
                <a:latin typeface="Aptos" panose="020B0004020202020204" pitchFamily="34" charset="0"/>
              </a:rPr>
              <a:t>) and average profit.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Rabi</a:t>
            </a:r>
            <a:r>
              <a:rPr lang="en-IN" sz="2000" dirty="0">
                <a:latin typeface="Aptos" panose="020B0004020202020204" pitchFamily="34" charset="0"/>
              </a:rPr>
              <a:t> shows steady, safe, and positive returns.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Zaid</a:t>
            </a:r>
            <a:r>
              <a:rPr lang="en-IN" sz="2000" dirty="0">
                <a:latin typeface="Aptos" panose="020B0004020202020204" pitchFamily="34" charset="0"/>
              </a:rPr>
              <a:t> is a difficult season for farmers, showing a negative average profit (</a:t>
            </a:r>
            <a:r>
              <a:rPr lang="en-IN" sz="2000" b="1" dirty="0">
                <a:latin typeface="Aptos" panose="020B0004020202020204" pitchFamily="34" charset="0"/>
              </a:rPr>
              <a:t>-₹24,804.82</a:t>
            </a:r>
            <a:r>
              <a:rPr lang="en-IN" sz="2000" dirty="0">
                <a:latin typeface="Aptos" panose="020B0004020202020204" pitchFamily="34" charset="0"/>
              </a:rPr>
              <a:t>).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C29EF4-6DFD-3F19-F292-6D554B110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832" y="1008546"/>
            <a:ext cx="5462013" cy="5656414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48A6A5-9365-A493-C279-ED314D85C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2376" y="1541930"/>
            <a:ext cx="4043083" cy="4063534"/>
          </a:xfrm>
        </p:spPr>
        <p:txBody>
          <a:bodyPr>
            <a:normAutofit/>
          </a:bodyPr>
          <a:lstStyle/>
          <a:p>
            <a:pPr lvl="0"/>
            <a:r>
              <a:rPr lang="en-IN" b="1" dirty="0">
                <a:latin typeface="Aptos" panose="020B0004020202020204" pitchFamily="34" charset="0"/>
              </a:rPr>
              <a:t>Sugarcane</a:t>
            </a:r>
            <a:r>
              <a:rPr lang="en-IN" dirty="0">
                <a:latin typeface="Aptos" panose="020B0004020202020204" pitchFamily="34" charset="0"/>
              </a:rPr>
              <a:t> easily dominates the dataset in physical output size and absolute profit.</a:t>
            </a:r>
          </a:p>
          <a:p>
            <a:pPr lvl="0"/>
            <a:r>
              <a:rPr lang="en-IN" b="1" dirty="0">
                <a:latin typeface="Aptos" panose="020B0004020202020204" pitchFamily="34" charset="0"/>
              </a:rPr>
              <a:t>Chilli</a:t>
            </a:r>
            <a:r>
              <a:rPr lang="en-IN" dirty="0">
                <a:latin typeface="Aptos" panose="020B0004020202020204" pitchFamily="34" charset="0"/>
              </a:rPr>
              <a:t> stands out as a highly profitable commercial crop option.</a:t>
            </a:r>
          </a:p>
          <a:p>
            <a:pPr lvl="0"/>
            <a:r>
              <a:rPr lang="en-IN" dirty="0">
                <a:latin typeface="Aptos" panose="020B0004020202020204" pitchFamily="34" charset="0"/>
              </a:rPr>
              <a:t>Daily staples like </a:t>
            </a:r>
            <a:r>
              <a:rPr lang="en-IN" b="1" dirty="0">
                <a:latin typeface="Aptos" panose="020B0004020202020204" pitchFamily="34" charset="0"/>
              </a:rPr>
              <a:t>Wheat, Rice, and Maize</a:t>
            </a:r>
            <a:r>
              <a:rPr lang="en-IN" dirty="0">
                <a:latin typeface="Aptos" panose="020B0004020202020204" pitchFamily="34" charset="0"/>
              </a:rPr>
              <a:t> unexpectedly trended into negative average profit zones in this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32E887-5109-E281-076E-5DCB6B081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683" y="1431693"/>
            <a:ext cx="4696058" cy="53214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C120FE-196C-396B-F162-F6DE86E79D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9271" y="1541930"/>
            <a:ext cx="4496267" cy="4063534"/>
          </a:xfrm>
        </p:spPr>
        <p:txBody>
          <a:bodyPr>
            <a:normAutofit/>
          </a:bodyPr>
          <a:lstStyle/>
          <a:p>
            <a:pPr lvl="1"/>
            <a:r>
              <a:rPr lang="en-IN" b="1" dirty="0">
                <a:latin typeface="Aptos" panose="020B0004020202020204" pitchFamily="34" charset="0"/>
              </a:rPr>
              <a:t>Drip Irrigation</a:t>
            </a:r>
            <a:r>
              <a:rPr lang="en-IN" dirty="0">
                <a:latin typeface="Aptos" panose="020B0004020202020204" pitchFamily="34" charset="0"/>
              </a:rPr>
              <a:t> is the absolute clear winner over all other watering tactics.</a:t>
            </a:r>
          </a:p>
          <a:p>
            <a:pPr lvl="1"/>
            <a:r>
              <a:rPr lang="en-IN" dirty="0">
                <a:latin typeface="Aptos" panose="020B0004020202020204" pitchFamily="34" charset="0"/>
              </a:rPr>
              <a:t>It delivers the maximum average yield (</a:t>
            </a:r>
            <a:r>
              <a:rPr lang="en-IN" b="1" dirty="0">
                <a:latin typeface="Aptos" panose="020B0004020202020204" pitchFamily="34" charset="0"/>
              </a:rPr>
              <a:t>6.58 Tonnes/Ha</a:t>
            </a:r>
            <a:r>
              <a:rPr lang="en-IN" dirty="0">
                <a:latin typeface="Aptos" panose="020B0004020202020204" pitchFamily="34" charset="0"/>
              </a:rPr>
              <a:t>) and the highest financial profits.</a:t>
            </a:r>
          </a:p>
          <a:p>
            <a:pPr lvl="1"/>
            <a:r>
              <a:rPr lang="en-IN" dirty="0">
                <a:latin typeface="Aptos" panose="020B0004020202020204" pitchFamily="34" charset="0"/>
              </a:rPr>
              <a:t>Traditional flood methods and basic rainfed farming generated much lower overall efficiency.</a:t>
            </a:r>
          </a:p>
          <a:p>
            <a:pPr marL="0" indent="0">
              <a:buNone/>
            </a:pPr>
            <a:br>
              <a:rPr lang="en-IN" dirty="0">
                <a:latin typeface="Aptos" panose="020B0004020202020204" pitchFamily="34" charset="0"/>
              </a:rPr>
            </a:br>
            <a:endParaRPr lang="en-IN" dirty="0">
              <a:latin typeface="Aptos" panose="020B00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F417EC-F5A9-C26E-1D6B-3F80F823BC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09" t="1593"/>
          <a:stretch>
            <a:fillRect/>
          </a:stretch>
        </p:blipFill>
        <p:spPr>
          <a:xfrm>
            <a:off x="5002307" y="1532966"/>
            <a:ext cx="6015318" cy="4938954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42DF35-8E1D-0568-A512-D52B9BBB39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8513" y="1865406"/>
            <a:ext cx="4021138" cy="4069229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N" sz="2200" b="1" dirty="0">
                <a:latin typeface="Aptos" panose="020B0004020202020204" pitchFamily="34" charset="0"/>
              </a:rPr>
              <a:t>Kharif</a:t>
            </a:r>
            <a:r>
              <a:rPr lang="en-IN" sz="2200" dirty="0">
                <a:latin typeface="Aptos" panose="020B0004020202020204" pitchFamily="34" charset="0"/>
              </a:rPr>
              <a:t> thrives because it benefits from optimal natural monsoon rain (</a:t>
            </a:r>
            <a:r>
              <a:rPr lang="en-IN" sz="2200" b="1" dirty="0">
                <a:latin typeface="Aptos" panose="020B0004020202020204" pitchFamily="34" charset="0"/>
              </a:rPr>
              <a:t>849.20 mm</a:t>
            </a:r>
            <a:r>
              <a:rPr lang="en-IN" sz="2200" dirty="0">
                <a:latin typeface="Aptos" panose="020B0004020202020204" pitchFamily="34" charset="0"/>
              </a:rPr>
              <a:t>) and natural humidity.</a:t>
            </a:r>
          </a:p>
          <a:p>
            <a:pPr lvl="1"/>
            <a:r>
              <a:rPr lang="en-IN" sz="2200" b="1" dirty="0">
                <a:latin typeface="Aptos" panose="020B0004020202020204" pitchFamily="34" charset="0"/>
              </a:rPr>
              <a:t>Zaid (Summer)</a:t>
            </a:r>
            <a:r>
              <a:rPr lang="en-IN" sz="2200" dirty="0">
                <a:latin typeface="Aptos" panose="020B0004020202020204" pitchFamily="34" charset="0"/>
              </a:rPr>
              <a:t> forces farmers to pump massive amounts of costly artificial water (</a:t>
            </a:r>
            <a:r>
              <a:rPr lang="en-IN" sz="2200" b="1" dirty="0">
                <a:latin typeface="Aptos" panose="020B0004020202020204" pitchFamily="34" charset="0"/>
              </a:rPr>
              <a:t>6,419.89 m³</a:t>
            </a:r>
            <a:r>
              <a:rPr lang="en-IN" sz="2200" dirty="0">
                <a:latin typeface="Aptos" panose="020B0004020202020204" pitchFamily="34" charset="0"/>
              </a:rPr>
              <a:t>) due to blistering average temperatures.</a:t>
            </a:r>
          </a:p>
          <a:p>
            <a:pPr lvl="1"/>
            <a:r>
              <a:rPr lang="en-IN" sz="2200" dirty="0">
                <a:latin typeface="Aptos" panose="020B0004020202020204" pitchFamily="34" charset="0"/>
              </a:rPr>
              <a:t>This high water dependency explains why summer farming costs spike up, erasing net profits.</a:t>
            </a:r>
            <a:br>
              <a:rPr lang="en-IN" sz="2200" dirty="0">
                <a:latin typeface="Aptos" panose="020B0004020202020204" pitchFamily="34" charset="0"/>
              </a:rPr>
            </a:br>
            <a:endParaRPr lang="en-IN" sz="2200" dirty="0">
              <a:latin typeface="Aptos" panose="020B00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AF704-F582-2C63-9A07-739F748176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1"/>
          <a:stretch>
            <a:fillRect/>
          </a:stretch>
        </p:blipFill>
        <p:spPr>
          <a:xfrm>
            <a:off x="4345694" y="1226065"/>
            <a:ext cx="7394295" cy="5463374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62DFE83-93AD-7689-8AB3-08BEB641EA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3742" y="1515036"/>
            <a:ext cx="3657600" cy="4446494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sz="2200" dirty="0">
                <a:latin typeface="Aptos" panose="020B0004020202020204" pitchFamily="34" charset="0"/>
              </a:rPr>
              <a:t>I used this map to see how different parameters move together.</a:t>
            </a:r>
          </a:p>
          <a:p>
            <a:pPr lvl="0"/>
            <a:r>
              <a:rPr lang="en-IN" sz="2200" b="1" dirty="0">
                <a:latin typeface="Aptos" panose="020B0004020202020204" pitchFamily="34" charset="0"/>
              </a:rPr>
              <a:t>Water Used</a:t>
            </a:r>
            <a:r>
              <a:rPr lang="en-IN" sz="2200" dirty="0">
                <a:latin typeface="Aptos" panose="020B0004020202020204" pitchFamily="34" charset="0"/>
              </a:rPr>
              <a:t> has the biggest positive impact on final crop yield out of all raw field inputs (</a:t>
            </a:r>
            <a:r>
              <a:rPr lang="en-IN" sz="2200" b="1" dirty="0">
                <a:latin typeface="Aptos" panose="020B0004020202020204" pitchFamily="34" charset="0"/>
              </a:rPr>
              <a:t>0.39</a:t>
            </a:r>
            <a:r>
              <a:rPr lang="en-IN" sz="2200" dirty="0">
                <a:latin typeface="Aptos" panose="020B0004020202020204" pitchFamily="34" charset="0"/>
              </a:rPr>
              <a:t> positive correlation).</a:t>
            </a:r>
          </a:p>
          <a:p>
            <a:pPr lvl="0"/>
            <a:r>
              <a:rPr lang="en-IN" sz="2200" dirty="0">
                <a:latin typeface="Aptos" panose="020B0004020202020204" pitchFamily="34" charset="0"/>
              </a:rPr>
              <a:t>Interestingly, adding extra </a:t>
            </a:r>
            <a:r>
              <a:rPr lang="en-IN" sz="2200" b="1" dirty="0">
                <a:latin typeface="Aptos" panose="020B0004020202020204" pitchFamily="34" charset="0"/>
              </a:rPr>
              <a:t>Fertilizer</a:t>
            </a:r>
            <a:r>
              <a:rPr lang="en-IN" sz="2200" dirty="0">
                <a:latin typeface="Aptos" panose="020B0004020202020204" pitchFamily="34" charset="0"/>
              </a:rPr>
              <a:t> showed a minor negative correlation with final profit (</a:t>
            </a:r>
            <a:r>
              <a:rPr lang="en-IN" sz="2200" b="1" dirty="0">
                <a:latin typeface="Aptos" panose="020B0004020202020204" pitchFamily="34" charset="0"/>
              </a:rPr>
              <a:t>-0.07</a:t>
            </a:r>
            <a:r>
              <a:rPr lang="en-IN" sz="2200" dirty="0">
                <a:latin typeface="Aptos" panose="020B0004020202020204" pitchFamily="34" charset="0"/>
              </a:rPr>
              <a:t>), meaning excessive inputs just drive up overhead costs without guaranteeing returns.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220" y="777413"/>
            <a:ext cx="4735798" cy="830997"/>
          </a:xfrm>
        </p:spPr>
        <p:txBody>
          <a:bodyPr>
            <a:normAutofit/>
          </a:bodyPr>
          <a:lstStyle/>
          <a:p>
            <a:r>
              <a:rPr lang="en-IN" sz="44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6E681D-936E-09E8-1C2E-FE138B0F7F30}"/>
              </a:ext>
            </a:extLst>
          </p:cNvPr>
          <p:cNvSpPr txBox="1"/>
          <p:nvPr/>
        </p:nvSpPr>
        <p:spPr>
          <a:xfrm>
            <a:off x="779929" y="1941449"/>
            <a:ext cx="77475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Aptos" panose="020B0004020202020204" pitchFamily="34" charset="0"/>
              </a:rPr>
              <a:t>Predictive ML </a:t>
            </a:r>
            <a:r>
              <a:rPr lang="en-IN" sz="2000" b="1" dirty="0" err="1">
                <a:latin typeface="Aptos" panose="020B0004020202020204" pitchFamily="34" charset="0"/>
              </a:rPr>
              <a:t>Modeling</a:t>
            </a:r>
            <a:r>
              <a:rPr lang="en-IN" sz="2000" b="1" dirty="0">
                <a:latin typeface="Aptos" panose="020B0004020202020204" pitchFamily="34" charset="0"/>
              </a:rPr>
              <a:t>:</a:t>
            </a:r>
            <a:r>
              <a:rPr lang="en-IN" sz="2000" dirty="0">
                <a:latin typeface="Aptos" panose="020B0004020202020204" pitchFamily="34" charset="0"/>
              </a:rPr>
              <a:t> Train machine learning regression models (e.g., Random Forests, </a:t>
            </a:r>
            <a:r>
              <a:rPr lang="en-IN" sz="2000" dirty="0" err="1">
                <a:latin typeface="Aptos" panose="020B0004020202020204" pitchFamily="34" charset="0"/>
              </a:rPr>
              <a:t>XGBoost</a:t>
            </a:r>
            <a:r>
              <a:rPr lang="en-IN" sz="2000" dirty="0">
                <a:latin typeface="Aptos" panose="020B0004020202020204" pitchFamily="34" charset="0"/>
              </a:rPr>
              <a:t>) to predict dynamic crop yields and net farm profits using early weather indicators.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Aptos" panose="020B0004020202020204" pitchFamily="34" charset="0"/>
              </a:rPr>
              <a:t>Interactive Dashboard Deployment:</a:t>
            </a:r>
            <a:r>
              <a:rPr lang="en-IN" sz="2000" dirty="0">
                <a:latin typeface="Aptos" panose="020B0004020202020204" pitchFamily="34" charset="0"/>
              </a:rPr>
              <a:t> Migrate fixed exploratory chart systems into web applications (using </a:t>
            </a:r>
            <a:r>
              <a:rPr lang="en-IN" sz="2000" dirty="0" err="1">
                <a:latin typeface="Aptos" panose="020B0004020202020204" pitchFamily="34" charset="0"/>
              </a:rPr>
              <a:t>Streamlit</a:t>
            </a:r>
            <a:r>
              <a:rPr lang="en-IN" sz="2000" dirty="0">
                <a:latin typeface="Aptos" panose="020B0004020202020204" pitchFamily="34" charset="0"/>
              </a:rPr>
              <a:t> or Dash) for real-time exploratory data </a:t>
            </a:r>
            <a:r>
              <a:rPr lang="en-IN" sz="2000" dirty="0" err="1">
                <a:latin typeface="Aptos" panose="020B0004020202020204" pitchFamily="34" charset="0"/>
              </a:rPr>
              <a:t>modeling</a:t>
            </a:r>
            <a:r>
              <a:rPr lang="en-IN" sz="2000" dirty="0">
                <a:latin typeface="Aptos" panose="020B0004020202020204" pitchFamily="34" charset="0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Aptos" panose="020B0004020202020204" pitchFamily="34" charset="0"/>
              </a:rPr>
              <a:t>Anomalous Market Detection:</a:t>
            </a:r>
            <a:r>
              <a:rPr lang="en-IN" sz="2000" dirty="0">
                <a:latin typeface="Aptos" panose="020B0004020202020204" pitchFamily="34" charset="0"/>
              </a:rPr>
              <a:t> Expand feature parameters to ingest live regional wholesale crop pricing APIs to generate optimized, automated dynamic sowing recommendations.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3D0582-B469-A2AA-C286-F4B27EB4B9A3}"/>
              </a:ext>
            </a:extLst>
          </p:cNvPr>
          <p:cNvSpPr txBox="1"/>
          <p:nvPr/>
        </p:nvSpPr>
        <p:spPr>
          <a:xfrm>
            <a:off x="527455" y="1941449"/>
            <a:ext cx="9583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accent5">
                    <a:lumMod val="75000"/>
                  </a:schemeClr>
                </a:solidFill>
                <a:hlinkClick r:id="rId3"/>
              </a:rPr>
              <a:t>MY GitHub Repo</a:t>
            </a:r>
            <a:endParaRPr lang="en-IN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75DCDE-A7FA-B064-009D-39F07F76C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36276"/>
            <a:ext cx="7546282" cy="523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39153" y="457200"/>
            <a:ext cx="5943600" cy="5827059"/>
          </a:xfrm>
        </p:spPr>
        <p:txBody>
          <a:bodyPr>
            <a:normAutofit/>
          </a:bodyPr>
          <a:lstStyle/>
          <a:p>
            <a:r>
              <a:rPr lang="en-IN" sz="4000" dirty="0"/>
              <a:t>Conclusion</a:t>
            </a:r>
          </a:p>
          <a:p>
            <a:r>
              <a:rPr lang="en-IN" b="0" dirty="0"/>
              <a:t> </a:t>
            </a:r>
            <a:r>
              <a:rPr lang="en-IN" sz="2800" b="0" dirty="0">
                <a:latin typeface="Aptos" panose="020B0004020202020204" pitchFamily="34" charset="0"/>
              </a:rPr>
              <a:t>Doing this project taught me how data analysis can find practical solutions for real-world farming.</a:t>
            </a:r>
          </a:p>
          <a:p>
            <a:r>
              <a:rPr lang="en-IN" sz="4000" dirty="0"/>
              <a:t>Thank You!</a:t>
            </a:r>
            <a:r>
              <a:rPr lang="en-IN" sz="4000" b="0" dirty="0"/>
              <a:t> 🎓</a:t>
            </a:r>
            <a:br>
              <a:rPr lang="en-IN" sz="4000" b="0" dirty="0"/>
            </a:br>
            <a:r>
              <a:rPr lang="en-IN" sz="2800" b="0" i="1" dirty="0">
                <a:latin typeface="Aptos" panose="020B0004020202020204" pitchFamily="34" charset="0"/>
              </a:rPr>
              <a:t>Special thanks to Edunet Foundation for the Data Visualization training.</a:t>
            </a:r>
            <a:endParaRPr lang="en-IN" sz="2800" b="0" dirty="0">
              <a:latin typeface="Aptos" panose="020B00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621</TotalTime>
  <Words>784</Words>
  <Application>Microsoft Office PowerPoint</Application>
  <PresentationFormat>Widescreen</PresentationFormat>
  <Paragraphs>62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Courier New</vt:lpstr>
      <vt:lpstr>Trebuchet MS</vt:lpstr>
      <vt:lpstr>Wingdings</vt:lpstr>
      <vt:lpstr>Wingdings 3</vt:lpstr>
      <vt:lpstr>Facet</vt:lpstr>
      <vt:lpstr>Project Title –Seasonal Agriculture Performance Analysis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Excelr Edtech</cp:lastModifiedBy>
  <cp:revision>106</cp:revision>
  <dcterms:created xsi:type="dcterms:W3CDTF">2021-07-11T13:13:15Z</dcterms:created>
  <dcterms:modified xsi:type="dcterms:W3CDTF">2026-09-10T08:55:41Z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